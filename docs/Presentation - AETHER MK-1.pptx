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eorgia Pro Light" charset="1" panose="02040302050405020303"/>
      <p:regular r:id="rId25"/>
    </p:embeddedFont>
    <p:embeddedFont>
      <p:font typeface="DM Sans" charset="1" panose="00000000000000000000"/>
      <p:regular r:id="rId26"/>
    </p:embeddedFont>
    <p:embeddedFont>
      <p:font typeface="DM Sans Bold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16954500" cy="7162800"/>
            <a:chOff x="0" y="0"/>
            <a:chExt cx="2626696" cy="1109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6696" cy="1109705"/>
            </a:xfrm>
            <a:custGeom>
              <a:avLst/>
              <a:gdLst/>
              <a:ahLst/>
              <a:cxnLst/>
              <a:rect r="r" b="b" t="t" l="l"/>
              <a:pathLst>
                <a:path h="1109705" w="2626696">
                  <a:moveTo>
                    <a:pt x="0" y="0"/>
                  </a:moveTo>
                  <a:lnTo>
                    <a:pt x="2626696" y="0"/>
                  </a:lnTo>
                  <a:lnTo>
                    <a:pt x="2626696" y="1109705"/>
                  </a:lnTo>
                  <a:lnTo>
                    <a:pt x="0" y="1109705"/>
                  </a:lnTo>
                  <a:close/>
                </a:path>
              </a:pathLst>
            </a:custGeom>
            <a:blipFill>
              <a:blip r:embed="rId2"/>
              <a:stretch>
                <a:fillRect l="-747" t="0" r="-7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Technology 1: Thermal Imaging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16954500" cy="7162800"/>
            <a:chOff x="0" y="0"/>
            <a:chExt cx="2626696" cy="1109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6696" cy="1109705"/>
            </a:xfrm>
            <a:custGeom>
              <a:avLst/>
              <a:gdLst/>
              <a:ahLst/>
              <a:cxnLst/>
              <a:rect r="r" b="b" t="t" l="l"/>
              <a:pathLst>
                <a:path h="1109705" w="2626696">
                  <a:moveTo>
                    <a:pt x="0" y="0"/>
                  </a:moveTo>
                  <a:lnTo>
                    <a:pt x="2626696" y="0"/>
                  </a:lnTo>
                  <a:lnTo>
                    <a:pt x="2626696" y="1109705"/>
                  </a:lnTo>
                  <a:lnTo>
                    <a:pt x="0" y="1109705"/>
                  </a:lnTo>
                  <a:close/>
                </a:path>
              </a:pathLst>
            </a:custGeom>
            <a:blipFill>
              <a:blip r:embed="rId2"/>
              <a:stretch>
                <a:fillRect l="-747" t="0" r="-7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FAILED: THERMAL IMAGING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16954500" cy="7162800"/>
            <a:chOff x="0" y="0"/>
            <a:chExt cx="2626696" cy="1109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6696" cy="1109705"/>
            </a:xfrm>
            <a:custGeom>
              <a:avLst/>
              <a:gdLst/>
              <a:ahLst/>
              <a:cxnLst/>
              <a:rect r="r" b="b" t="t" l="l"/>
              <a:pathLst>
                <a:path h="1109705" w="2626696">
                  <a:moveTo>
                    <a:pt x="0" y="0"/>
                  </a:moveTo>
                  <a:lnTo>
                    <a:pt x="2626696" y="0"/>
                  </a:lnTo>
                  <a:lnTo>
                    <a:pt x="2626696" y="1109705"/>
                  </a:lnTo>
                  <a:lnTo>
                    <a:pt x="0" y="1109705"/>
                  </a:lnTo>
                  <a:close/>
                </a:path>
              </a:pathLst>
            </a:custGeom>
            <a:blipFill>
              <a:blip r:embed="rId2"/>
              <a:stretch>
                <a:fillRect l="-747" t="0" r="-7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Technology 2: Camera Robots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16954500" cy="7162800"/>
            <a:chOff x="0" y="0"/>
            <a:chExt cx="2626696" cy="1109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6696" cy="1109705"/>
            </a:xfrm>
            <a:custGeom>
              <a:avLst/>
              <a:gdLst/>
              <a:ahLst/>
              <a:cxnLst/>
              <a:rect r="r" b="b" t="t" l="l"/>
              <a:pathLst>
                <a:path h="1109705" w="2626696">
                  <a:moveTo>
                    <a:pt x="0" y="0"/>
                  </a:moveTo>
                  <a:lnTo>
                    <a:pt x="2626696" y="0"/>
                  </a:lnTo>
                  <a:lnTo>
                    <a:pt x="2626696" y="1109705"/>
                  </a:lnTo>
                  <a:lnTo>
                    <a:pt x="0" y="1109705"/>
                  </a:lnTo>
                  <a:close/>
                </a:path>
              </a:pathLst>
            </a:custGeom>
            <a:blipFill>
              <a:blip r:embed="rId2"/>
              <a:stretch>
                <a:fillRect l="-747" t="0" r="-7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FAILED CAMERA ROBOTS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16954500" cy="7162800"/>
            <a:chOff x="0" y="0"/>
            <a:chExt cx="2626696" cy="1109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6696" cy="1109705"/>
            </a:xfrm>
            <a:custGeom>
              <a:avLst/>
              <a:gdLst/>
              <a:ahLst/>
              <a:cxnLst/>
              <a:rect r="r" b="b" t="t" l="l"/>
              <a:pathLst>
                <a:path h="1109705" w="2626696">
                  <a:moveTo>
                    <a:pt x="0" y="0"/>
                  </a:moveTo>
                  <a:lnTo>
                    <a:pt x="2626696" y="0"/>
                  </a:lnTo>
                  <a:lnTo>
                    <a:pt x="2626696" y="1109705"/>
                  </a:lnTo>
                  <a:lnTo>
                    <a:pt x="0" y="1109705"/>
                  </a:lnTo>
                  <a:close/>
                </a:path>
              </a:pathLst>
            </a:custGeom>
            <a:blipFill>
              <a:blip r:embed="rId2"/>
              <a:stretch>
                <a:fillRect l="-747" t="0" r="-7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Technology 3: Acoustic Microphones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16954500" cy="7162800"/>
            <a:chOff x="0" y="0"/>
            <a:chExt cx="2626696" cy="1109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6696" cy="1109705"/>
            </a:xfrm>
            <a:custGeom>
              <a:avLst/>
              <a:gdLst/>
              <a:ahLst/>
              <a:cxnLst/>
              <a:rect r="r" b="b" t="t" l="l"/>
              <a:pathLst>
                <a:path h="1109705" w="2626696">
                  <a:moveTo>
                    <a:pt x="0" y="0"/>
                  </a:moveTo>
                  <a:lnTo>
                    <a:pt x="2626696" y="0"/>
                  </a:lnTo>
                  <a:lnTo>
                    <a:pt x="2626696" y="1109705"/>
                  </a:lnTo>
                  <a:lnTo>
                    <a:pt x="0" y="1109705"/>
                  </a:lnTo>
                  <a:close/>
                </a:path>
              </a:pathLst>
            </a:custGeom>
            <a:blipFill>
              <a:blip r:embed="rId2"/>
              <a:stretch>
                <a:fillRect l="-747" t="0" r="-7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42950"/>
            <a:ext cx="16954500" cy="11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90"/>
              </a:lnSpc>
              <a:spcBef>
                <a:spcPct val="0"/>
              </a:spcBef>
            </a:pPr>
            <a:r>
              <a:rPr lang="en-US" sz="79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FAILED: ACOUSTIC MICROPHONES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A6A6A6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ZENIQ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1762125"/>
            <a:ext cx="6886575" cy="271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</a:pPr>
            <a:r>
              <a:rPr lang="en-US" sz="10499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AETHER MK-1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4675" y="4648268"/>
            <a:ext cx="6879502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</a:pPr>
            <a:r>
              <a:rPr lang="en-US" sz="3599">
                <a:solidFill>
                  <a:srgbClr val="A6A6A6"/>
                </a:solidFill>
                <a:latin typeface="DM Sans"/>
                <a:ea typeface="DM Sans"/>
                <a:cs typeface="DM Sans"/>
                <a:sym typeface="DM Sans"/>
              </a:rPr>
              <a:t>Ambient Edge-Computing Topology For Human Emergency Rescue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44200" y="9247505"/>
            <a:ext cx="574357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Pranav G &amp; 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44200" y="8693278"/>
            <a:ext cx="57435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A6A6A6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2409825"/>
            <a:ext cx="6886575" cy="455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01 Introduction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02 Abstract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03 Proposed System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04 Hardware and Software Configuration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05 Circuit Architecture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06 Software and ML Pipeline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07 Module Description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08 Pros and Cons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09 Future Roadmap AETHER MK-2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10 Impact and Vision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657225"/>
            <a:ext cx="576262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u="none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Table of Contents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183320"/>
            <a:ext cx="10653639" cy="10653639"/>
          </a:xfrm>
          <a:custGeom>
            <a:avLst/>
            <a:gdLst/>
            <a:ahLst/>
            <a:cxnLst/>
            <a:rect r="r" b="b" t="t" l="l"/>
            <a:pathLst>
              <a:path h="10653639" w="10653639">
                <a:moveTo>
                  <a:pt x="0" y="0"/>
                </a:moveTo>
                <a:lnTo>
                  <a:pt x="10653639" y="0"/>
                </a:lnTo>
                <a:lnTo>
                  <a:pt x="10653639" y="10653640"/>
                </a:lnTo>
                <a:lnTo>
                  <a:pt x="0" y="10653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5314950"/>
            <a:ext cx="7892035" cy="145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  <a:r>
              <a:rPr lang="en-US" sz="20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Structural collapses create a </a:t>
            </a:r>
            <a:r>
              <a:rPr lang="en-US" b="true" sz="2099">
                <a:solidFill>
                  <a:srgbClr val="B0B0B0"/>
                </a:solidFill>
                <a:latin typeface="DM Sans Bold"/>
                <a:ea typeface="DM Sans Bold"/>
                <a:cs typeface="DM Sans Bold"/>
                <a:sym typeface="DM Sans Bold"/>
              </a:rPr>
              <a:t>critical 72-hour survival window</a:t>
            </a:r>
            <a:r>
              <a:rPr lang="en-US" sz="20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 for trapped victims. Traditional technologies often fail when needed most, highlighting the urgent need for innovative solutions like AETHER.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733425"/>
            <a:ext cx="10067925" cy="33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Introduction: The Critical 72-Hour Window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3547" y="4419600"/>
            <a:ext cx="1005112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A6A6A6"/>
                </a:solidFill>
                <a:latin typeface="DM Sans"/>
                <a:ea typeface="DM Sans"/>
                <a:cs typeface="DM Sans"/>
                <a:sym typeface="DM Sans"/>
              </a:rPr>
              <a:t>IMPORTANCE OF TIMELY RESCUE IN DISASTERS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57672"/>
            <a:ext cx="9144000" cy="10845289"/>
          </a:xfrm>
          <a:custGeom>
            <a:avLst/>
            <a:gdLst/>
            <a:ahLst/>
            <a:cxnLst/>
            <a:rect r="r" b="b" t="t" l="l"/>
            <a:pathLst>
              <a:path h="10845289" w="9144000">
                <a:moveTo>
                  <a:pt x="0" y="0"/>
                </a:moveTo>
                <a:lnTo>
                  <a:pt x="9144000" y="0"/>
                </a:lnTo>
                <a:lnTo>
                  <a:pt x="9144000" y="10845289"/>
                </a:lnTo>
                <a:lnTo>
                  <a:pt x="0" y="10845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46" r="0" b="-400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5314950"/>
            <a:ext cx="7892035" cy="145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  <a:r>
              <a:rPr lang="en-US" sz="20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AETHER MK-1 utilizes standard 2.4GHz Wi-Fi and TinyML to detect human movement in debris, providing critical information during rescue operations with zero cloud dependency and low cost.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733425"/>
            <a:ext cx="10067925" cy="33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AETHER MK-1: Innovative Radar Technology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523840"/>
            <a:ext cx="9404585" cy="38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5"/>
              </a:lnSpc>
            </a:pPr>
            <a:r>
              <a:rPr lang="en-US" sz="2332" spc="116">
                <a:solidFill>
                  <a:srgbClr val="A6A6A6"/>
                </a:solidFill>
                <a:latin typeface="DM Sans"/>
                <a:ea typeface="DM Sans"/>
                <a:cs typeface="DM Sans"/>
                <a:sym typeface="DM Sans"/>
              </a:rPr>
              <a:t>REVOLUTIONIZING NON-INVASIVE HUMAN DETECTION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2409825"/>
            <a:ext cx="6886575" cy="546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</a:pPr>
            <a:r>
              <a:rPr lang="en-US" b="true" sz="2599">
                <a:solidFill>
                  <a:srgbClr val="A6A6A6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 of AETHER MK-1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2.4GHz RF waves penetrate walls and debris without line of sight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Detects passive movement, breathing, and tremors even if the victim is unconscious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Ultra-low cost, under Rs 1000 per node, hundreds deployable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Zero infrastructure dependency; no cellular or internet needed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Immediate binary proof of life: Dead Rubble vs Trapped Survivor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657225"/>
            <a:ext cx="576262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u="none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Proposed System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Hardware and Software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095875"/>
            <a:ext cx="4314825" cy="217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  <a:r>
              <a:rPr lang="en-US" sz="20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The system utilizes two DOIT ESP32 DevKit V1 microcontrollers, a red alert LED, a resistor, and a solderless breadboard, ensuring a </a:t>
            </a:r>
            <a:r>
              <a:rPr lang="en-US" b="true" sz="2099">
                <a:solidFill>
                  <a:srgbClr val="B0B0B0"/>
                </a:solidFill>
                <a:latin typeface="DM Sans Bold"/>
                <a:ea typeface="DM Sans Bold"/>
                <a:cs typeface="DM Sans Bold"/>
                <a:sym typeface="DM Sans Bold"/>
              </a:rPr>
              <a:t>cost-effective</a:t>
            </a:r>
            <a:r>
              <a:rPr lang="en-US" sz="20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 build under Rs 1000.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4200525"/>
            <a:ext cx="465838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 spc="65">
                <a:solidFill>
                  <a:srgbClr val="A6A6A6"/>
                </a:solidFill>
                <a:latin typeface="DM Sans Bold"/>
                <a:ea typeface="DM Sans Bold"/>
                <a:cs typeface="DM Sans Bold"/>
                <a:sym typeface="DM Sans Bold"/>
              </a:rPr>
              <a:t>HARDWARE 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9850" y="5095875"/>
            <a:ext cx="4314825" cy="217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  <a:r>
              <a:rPr lang="en-US" sz="20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Leveraging Edge Impulse for TinyML training, the software stack includes Arduino IDE for embedded inference and Python with VS Code for </a:t>
            </a:r>
            <a:r>
              <a:rPr lang="en-US" b="true" sz="2099">
                <a:solidFill>
                  <a:srgbClr val="B0B0B0"/>
                </a:solidFill>
                <a:latin typeface="DM Sans Bold"/>
                <a:ea typeface="DM Sans Bold"/>
                <a:cs typeface="DM Sans Bold"/>
                <a:sym typeface="DM Sans Bold"/>
              </a:rPr>
              <a:t>automated data logging</a:t>
            </a:r>
            <a:r>
              <a:rPr lang="en-US" sz="2099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9850" y="4200525"/>
            <a:ext cx="431482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A6A6A6"/>
                </a:solidFill>
                <a:latin typeface="DM Sans Bold"/>
                <a:ea typeface="DM Sans Bold"/>
                <a:cs typeface="DM Sans Bold"/>
                <a:sym typeface="DM Sans Bold"/>
              </a:rPr>
              <a:t>SOFTWARE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4248150"/>
            <a:ext cx="4314825" cy="3027709"/>
            <a:chOff x="0" y="0"/>
            <a:chExt cx="5753100" cy="403694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Powered by portable 5V power banks, both nodes can operate independently without additional wiring, making the system </a:t>
              </a:r>
              <a:r>
                <a:rPr lang="en-US" b="true" sz="2099">
                  <a:solidFill>
                    <a:srgbClr val="B0B0B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highly flexible</a:t>
              </a: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 and suitable for disaster zones.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 SUPPLY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Circuit Architecture: RX Node Wiring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2663426"/>
            <a:chOff x="0" y="0"/>
            <a:chExt cx="5753100" cy="35512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753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The RX Node uses specific wiring connections, including the GPIO4 D4 pin to communicate with the alert system and control the LED indicator effectively.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WIRING OVERVIEW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3484909"/>
            <a:chOff x="0" y="0"/>
            <a:chExt cx="5753100" cy="46465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7557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Key components such as the 330 Ohm resistor and LED are integrated into the circuit, ensuring that the alert mechanism activates appropriately when a survivor is detected.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COMPONENT CONNECTIONS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2663426"/>
            <a:chOff x="0" y="0"/>
            <a:chExt cx="5753100" cy="355123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753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The current flows from the GPIO pin through the resistor to the LED, providing a clear visual signal when the AI detects a potential survivor in distress.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OPERATIONAL PATH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11540"/>
            <a:ext cx="719137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The Arduino IDE is utilized to flash the optimized inference engine onto the RX ESP32, ensuring it runs continuously to analyze incoming data streams.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620000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A6A6A6"/>
                </a:solidFill>
                <a:latin typeface="DM Sans Bold"/>
                <a:ea typeface="DM Sans Bold"/>
                <a:cs typeface="DM Sans Bold"/>
                <a:sym typeface="DM Sans Bold"/>
              </a:rPr>
              <a:t>DEPLOYMENT PROCESS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7296150"/>
            <a:ext cx="7191375" cy="2324100"/>
            <a:chOff x="0" y="0"/>
            <a:chExt cx="9588500" cy="3098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41095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When struggle confidence exceeds 60 percent, the GPIO4 pin triggers a red LED alarm, providing immediate visual confirmation of potential survivor detection in critical situations.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ALERT MECHANISM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4248150"/>
            <a:ext cx="7191375" cy="2311400"/>
            <a:chOff x="0" y="0"/>
            <a:chExt cx="9588500" cy="308186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24162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Python scripts log RSSI telemetry every 8 milliseconds, capturing essential data from two datasets: idle conditions in an empty room and active human movement.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COLLECTION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4619625"/>
            <a:ext cx="7191375" cy="1956435"/>
            <a:chOff x="0" y="0"/>
            <a:chExt cx="9588500" cy="260858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46175"/>
              <a:ext cx="95885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Using Edge Impulse, a binary classifier is trained to differentiate between idle and struggle states, optimizing for efficient classification on the ESP32 hardware platform.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TRAINING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Software and ML Pipeline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5821025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Module Description: TX Node, RX Node, and LED Alarm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314825" cy="3027709"/>
            <a:chOff x="0" y="0"/>
            <a:chExt cx="5753100" cy="40369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The TX node is a DOIT ESP32 DevKit V1 that continuously broadcasts the SSID "AETHER TX MK-1", flooding the debris field with 2.4GHz Wi-Fi radio waves for detection.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TX NODE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314825" cy="3027709"/>
            <a:chOff x="0" y="0"/>
            <a:chExt cx="57531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753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The RX node, another ESP32 DevKit V1, runs the TinyML inference algorithm, analyzing RSSI data every 8 milliseconds to classify potential survivors based on movement.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RX NODE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314825" cy="2663426"/>
            <a:chOff x="0" y="0"/>
            <a:chExt cx="5753100" cy="355123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753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A red LED alarm indicator, activated by the RX node upon detecting a survivor, visually alerts rescuers with a high signal when life is detected in the rubble.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753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LED ALARM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5753100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Pros and Cons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2396490"/>
            <a:ext cx="7191375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B0B0B0"/>
                </a:solidFill>
                <a:latin typeface="DM Sans"/>
                <a:ea typeface="DM Sans"/>
                <a:cs typeface="DM Sans"/>
                <a:sym typeface="DM Sans"/>
              </a:rPr>
              <a:t>AETHER MK-1 is mass deployable and ultra-low cost (under ₹1000). It penetrates solid barriers without needing a line of sight, successfully detecting human movement and struggling even when victims are unable to speak or call for help.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151447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A6A6A6"/>
                </a:solidFill>
                <a:latin typeface="DM Sans Bold"/>
                <a:ea typeface="DM Sans Bold"/>
                <a:cs typeface="DM Sans Bold"/>
                <a:sym typeface="DM Sans Bold"/>
              </a:rPr>
              <a:t>PROS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4743450"/>
            <a:ext cx="7191375" cy="1956435"/>
            <a:chOff x="0" y="0"/>
            <a:chExt cx="95885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6175"/>
              <a:ext cx="95885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The system relies on </a:t>
              </a:r>
              <a:r>
                <a:rPr lang="en-US" b="true" sz="2100">
                  <a:solidFill>
                    <a:srgbClr val="B0B0B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RSSI volume</a:t>
              </a:r>
              <a:r>
                <a:rPr lang="en-US" sz="2100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, meaning victims must produce some movement. Its range is limited to 2 to 3 meters, making proximity essential for effectiveness.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341437"/>
            <a:ext cx="9144000" cy="10989384"/>
          </a:xfrm>
          <a:custGeom>
            <a:avLst/>
            <a:gdLst/>
            <a:ahLst/>
            <a:cxnLst/>
            <a:rect r="r" b="b" t="t" l="l"/>
            <a:pathLst>
              <a:path h="10989384" w="9144000">
                <a:moveTo>
                  <a:pt x="0" y="0"/>
                </a:moveTo>
                <a:lnTo>
                  <a:pt x="9144000" y="0"/>
                </a:lnTo>
                <a:lnTo>
                  <a:pt x="9144000" y="10989384"/>
                </a:lnTo>
                <a:lnTo>
                  <a:pt x="0" y="1098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74" r="0" b="-189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2841855"/>
            <a:ext cx="7191375" cy="2311400"/>
            <a:chOff x="0" y="0"/>
            <a:chExt cx="9588500" cy="30818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24162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Upgrading from RSSI to CSI will enable detection of millimeter-level chest expansion, allowing for effective identification of unconscious survivors by analyzing their breathing rhythm.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ENHANCED DETECTION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6115280"/>
            <a:ext cx="7191375" cy="2327910"/>
            <a:chOff x="0" y="0"/>
            <a:chExt cx="9588500" cy="31038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95885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B0B0B0"/>
                  </a:solidFill>
                  <a:latin typeface="DM Sans"/>
                  <a:ea typeface="DM Sans"/>
                  <a:cs typeface="DM Sans"/>
                  <a:sym typeface="DM Sans"/>
                </a:rPr>
                <a:t>Utilizing dual ESP32-S3 microprocessors will optimize AI performance, enabling faster processing and improved accuracy in detecting trapped individuals in challenging environments.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6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HARDWARE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Future Roadmap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416645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535" r="0" b="-553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267611" y="3861932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trike="noStrike" u="none">
                <a:solidFill>
                  <a:srgbClr val="4D91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Thanking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6301" y="5353547"/>
            <a:ext cx="811530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 spc="110">
                <a:solidFill>
                  <a:srgbClr val="A6A6A6"/>
                </a:solidFill>
                <a:latin typeface="DM Sans Bold"/>
                <a:ea typeface="DM Sans Bold"/>
                <a:cs typeface="DM Sans Bold"/>
                <a:sym typeface="DM Sans Bold"/>
              </a:rPr>
              <a:t>GRATEFUL 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AETHER MK-1</dc:description>
  <dc:identifier>DAHIuMFFeSs</dc:identifier>
  <dcterms:modified xsi:type="dcterms:W3CDTF">2011-08-01T06:04:30Z</dcterms:modified>
  <cp:revision>1</cp:revision>
  <dc:title>Presentation - AETHER MK-1</dc:title>
</cp:coreProperties>
</file>